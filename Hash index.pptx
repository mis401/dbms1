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85FEA-80EF-4719-AAB4-93027E80C6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260ECD-32A1-4E53-A145-2A7D214298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B7B51A-1D5A-4726-A0AB-05CA34295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CC5F5-036B-46E0-9F32-16A853B39F2F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F8AF2B-A0F8-4B34-96A1-7E807022C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88DACD-0E61-4406-B60B-F5F0817A5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9B063-A957-4C27-BB40-EB1B1DAA8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2450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18BB8-88BF-4AD6-8470-601319C05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A2A1B-62EB-47E0-976C-F1D0DFD8B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AD99C3-E1C6-4D27-93EA-ABFE1EBBC1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CC5F5-036B-46E0-9F32-16A853B39F2F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E36E31-EBAB-479D-849F-21ED4A2391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7A8EA1-2155-4CFC-A710-554209336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9B063-A957-4C27-BB40-EB1B1DAA8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362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7D6FE-957D-4620-8785-DB48A45064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2D4558-85A0-439E-866B-B8AF8FD120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50DC2A-268B-441A-ACBE-C1DF5939C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CC5F5-036B-46E0-9F32-16A853B39F2F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BB5D5C-450D-410C-961C-1FDC11797E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9392D1-3CE1-4A1C-8B70-EB7A74935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9B063-A957-4C27-BB40-EB1B1DAA8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7328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8362A-66C2-4865-B5C9-D5909356A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1931D-C22D-4FB3-BEF5-0EBCD2B8AF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F15A15-73B4-47D3-BBC7-3B80AC97E1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D4D312-8441-4D49-ACC7-AEF484D128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CC5F5-036B-46E0-9F32-16A853B39F2F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A9ABA6-2269-438F-9228-FF2406C7E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9993F4-34FF-4A85-B099-AB1D6FF0F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9B063-A957-4C27-BB40-EB1B1DAA8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1542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CE224-3AF8-4DAC-9B1B-682B05072E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A5827-CB39-4143-B0E2-55C229DA78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742112-3678-4F49-AAF8-89C68A4B61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9E9210-4916-4139-8D17-5D26CFB656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EDE76D-9CA2-4D43-AFB4-2FD1429438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250579-9E94-4A2E-B557-81D99391E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CC5F5-036B-46E0-9F32-16A853B39F2F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EA9777-BA91-47A6-B406-3ADDC01A8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AA0B75-535E-45B8-8A7D-620D4F4A8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9B063-A957-4C27-BB40-EB1B1DAA8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808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1F062-6EF4-4467-B6EC-D9C5EE4D8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1C37D6-5F77-4A68-AD07-B7E279F1A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CC5F5-036B-46E0-9F32-16A853B39F2F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0A77D6-2977-4CB1-B347-5D3536662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58DE17-D72D-4039-80F1-3F39F5036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9B063-A957-4C27-BB40-EB1B1DAA8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2543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2E91117-AAD4-4D70-927E-020D27FE8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CC5F5-036B-46E0-9F32-16A853B39F2F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1B40CA-CBDD-4A57-AF03-FC424E607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F6F93C-FFD7-433A-8CF7-74C83B1CE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9B063-A957-4C27-BB40-EB1B1DAA8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1828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ABE98-1C40-4F1C-932E-6DAA5A435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0CC955-97BD-43EF-84D9-07547B223E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C73A2B-65B6-4D54-8C7C-9F024F01AE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10F17B-6D33-4856-A5C9-9BF9C5A48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CC5F5-036B-46E0-9F32-16A853B39F2F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AEC9DF-E8EB-4ECE-BFF6-E5F51AB81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0E1A39-87F0-40B0-BDD2-A69BC0B9F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9B063-A957-4C27-BB40-EB1B1DAA8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405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6A01A-36E5-4FAB-9A2F-458EFB0CF9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34765AF-CA78-49F4-B234-AD087801AE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391AE1-D4C5-419A-86DD-FF2007AFF3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8627BF-3E75-4844-AC9A-928B17947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CC5F5-036B-46E0-9F32-16A853B39F2F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69015-01E6-4031-B9F0-2464FD688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F006C2-A897-4CDA-ACB7-A37656FCA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9B063-A957-4C27-BB40-EB1B1DAA8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9860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576709-6B2A-491D-A10C-BC823978F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7C9E53-80AB-4EB2-9882-326836D89F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6DB7A6-168C-4109-ADBD-24B1BD74F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CC5F5-036B-46E0-9F32-16A853B39F2F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60B0A5-91AA-46BD-B61D-552DA314E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12EC4-D997-4103-BBC7-9BE30C2E7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9B063-A957-4C27-BB40-EB1B1DAA8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891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E0A947-E58E-4B8F-AEF3-904033C783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52A418-AC49-4D7A-8D00-2CFAD3754A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62E242-E7CC-4568-8D9A-DE23A6691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CC5F5-036B-46E0-9F32-16A853B39F2F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2F778E-D473-4013-92D6-E7FE2D110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0A3038-F6B7-4C2F-BCFB-7B8A55D8C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9B063-A957-4C27-BB40-EB1B1DAA8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8802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B95270-10EF-417E-8C36-5820E2D867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F6B19F-A4EC-4714-8A57-212E2A3137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18F21-EF39-43B8-81C7-A84D5925F8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4CC5F5-036B-46E0-9F32-16A853B39F2F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3687F9-1279-4E1F-B9D1-0D384AEB0D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017F29-811F-4C39-B761-C8FD3E5A61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B9B063-A957-4C27-BB40-EB1B1DAA8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5760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B9533-F900-4C90-8955-77DB2DFFE5C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Hash </a:t>
            </a:r>
            <a:r>
              <a:rPr lang="en-US" dirty="0" err="1"/>
              <a:t>indeksi</a:t>
            </a:r>
            <a:r>
              <a:rPr lang="en-US" dirty="0"/>
              <a:t> </a:t>
            </a:r>
            <a:r>
              <a:rPr lang="sr-Latn-RS" dirty="0"/>
              <a:t>i njihova ograničenja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EE60CA-B500-4B56-8743-E56B5A58E6D7}"/>
              </a:ext>
            </a:extLst>
          </p:cNvPr>
          <p:cNvSpPr txBox="1"/>
          <p:nvPr/>
        </p:nvSpPr>
        <p:spPr>
          <a:xfrm>
            <a:off x="578840" y="5257800"/>
            <a:ext cx="4295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dirty="0"/>
              <a:t>Mentor: Prof. dr Aleksandar Stanimirović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3D00D2-6386-4172-A705-187E7B87D68B}"/>
              </a:ext>
            </a:extLst>
          </p:cNvPr>
          <p:cNvSpPr txBox="1"/>
          <p:nvPr/>
        </p:nvSpPr>
        <p:spPr>
          <a:xfrm>
            <a:off x="8263158" y="5257800"/>
            <a:ext cx="33500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dirty="0"/>
              <a:t>Student: Mihajlo Bencun 1992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C923B6-F02A-4368-B0D2-17A4481C5CC2}"/>
              </a:ext>
            </a:extLst>
          </p:cNvPr>
          <p:cNvSpPr txBox="1"/>
          <p:nvPr/>
        </p:nvSpPr>
        <p:spPr>
          <a:xfrm>
            <a:off x="5521354" y="5830349"/>
            <a:ext cx="11492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dirty="0"/>
              <a:t>maj 2026.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30766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CFDBB-FD2C-46BD-803A-1793C981AE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Uvod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9D8EDEB-7696-46A2-AA1F-C021D306BAD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415971"/>
            <a:ext cx="9019136" cy="51706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Savremene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baze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podataka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skladište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ogromne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količine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podataka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Potrebna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je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optimizacija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pristupa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podacima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Indeksi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omogućavaju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bržu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pretragu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podataka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sr-Latn-R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Postoji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više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vrsta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indeksa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B-tree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Hash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GIN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BRIN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GiST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lang="sr-Latn-RS" altLang="en-US" sz="26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sr-Latn-R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Prednosti i ograničenja </a:t>
            </a:r>
            <a:r>
              <a:rPr kumimoji="0" lang="sr-Latn-R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hash</a:t>
            </a:r>
            <a:r>
              <a:rPr kumimoji="0" lang="sr-Latn-R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indeksa</a:t>
            </a:r>
            <a:endParaRPr kumimoji="0" lang="en-US" altLang="en-US" sz="2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Primena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u PostgreSQL-u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85977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C4C5C-8107-44A0-8753-E2BF29B74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Indeksiranje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84B9EB-5009-4314-914E-A154F35B94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600" dirty="0" err="1"/>
              <a:t>Indeks</a:t>
            </a:r>
            <a:r>
              <a:rPr lang="en-US" sz="2600" dirty="0"/>
              <a:t> je </a:t>
            </a:r>
            <a:r>
              <a:rPr lang="en-US" sz="2600" dirty="0" err="1"/>
              <a:t>posebna</a:t>
            </a:r>
            <a:r>
              <a:rPr lang="en-US" sz="2600" dirty="0"/>
              <a:t> </a:t>
            </a:r>
            <a:r>
              <a:rPr lang="en-US" sz="2600" dirty="0" err="1"/>
              <a:t>struktura</a:t>
            </a:r>
            <a:r>
              <a:rPr lang="en-US" sz="2600" dirty="0"/>
              <a:t> </a:t>
            </a:r>
            <a:r>
              <a:rPr lang="en-US" sz="2600" dirty="0" err="1"/>
              <a:t>podataka</a:t>
            </a:r>
            <a:r>
              <a:rPr lang="en-US" sz="2600" dirty="0"/>
              <a:t> u </a:t>
            </a:r>
            <a:r>
              <a:rPr lang="en-US" sz="2600" dirty="0" err="1"/>
              <a:t>bazi</a:t>
            </a:r>
            <a:r>
              <a:rPr lang="en-US" sz="26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600" dirty="0" err="1"/>
              <a:t>Koristi</a:t>
            </a:r>
            <a:r>
              <a:rPr lang="en-US" sz="2600" dirty="0"/>
              <a:t> se za </a:t>
            </a:r>
            <a:r>
              <a:rPr lang="en-US" sz="2600" dirty="0" err="1"/>
              <a:t>ubrzavanje</a:t>
            </a:r>
            <a:r>
              <a:rPr lang="en-US" sz="2600" dirty="0"/>
              <a:t> SELECT </a:t>
            </a:r>
            <a:r>
              <a:rPr lang="en-US" sz="2600" dirty="0" err="1"/>
              <a:t>upita</a:t>
            </a:r>
            <a:r>
              <a:rPr lang="en-US" sz="26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600" dirty="0" err="1"/>
              <a:t>Umesto</a:t>
            </a:r>
            <a:r>
              <a:rPr lang="en-US" sz="2600" dirty="0"/>
              <a:t> </a:t>
            </a:r>
            <a:r>
              <a:rPr lang="en-US" sz="2600" dirty="0" err="1"/>
              <a:t>pretrage</a:t>
            </a:r>
            <a:r>
              <a:rPr lang="en-US" sz="2600" dirty="0"/>
              <a:t> </a:t>
            </a:r>
            <a:r>
              <a:rPr lang="en-US" sz="2600" dirty="0" err="1"/>
              <a:t>cele</a:t>
            </a:r>
            <a:r>
              <a:rPr lang="en-US" sz="2600" dirty="0"/>
              <a:t> </a:t>
            </a:r>
            <a:r>
              <a:rPr lang="en-US" sz="2600" dirty="0" err="1"/>
              <a:t>tabele</a:t>
            </a:r>
            <a:r>
              <a:rPr lang="sr-Latn-RS" sz="2600" dirty="0"/>
              <a:t> </a:t>
            </a:r>
            <a:r>
              <a:rPr lang="en-US" sz="2600" dirty="0" err="1"/>
              <a:t>koristi</a:t>
            </a:r>
            <a:r>
              <a:rPr lang="en-US" sz="2600" dirty="0"/>
              <a:t> se </a:t>
            </a:r>
            <a:r>
              <a:rPr lang="en-US" sz="2600" dirty="0" err="1"/>
              <a:t>organizovana</a:t>
            </a:r>
            <a:r>
              <a:rPr lang="en-US" sz="2600" dirty="0"/>
              <a:t> </a:t>
            </a:r>
            <a:r>
              <a:rPr lang="en-US" sz="2600" dirty="0" err="1"/>
              <a:t>struktura</a:t>
            </a:r>
            <a:r>
              <a:rPr lang="en-US" sz="2600" dirty="0"/>
              <a:t> za </a:t>
            </a:r>
            <a:r>
              <a:rPr lang="en-US" sz="2600" dirty="0" err="1"/>
              <a:t>brži</a:t>
            </a:r>
            <a:r>
              <a:rPr lang="en-US" sz="2600" dirty="0"/>
              <a:t> </a:t>
            </a:r>
            <a:r>
              <a:rPr lang="en-US" sz="2600" dirty="0" err="1"/>
              <a:t>pristup</a:t>
            </a:r>
            <a:r>
              <a:rPr lang="en-US" sz="2600" dirty="0"/>
              <a:t> </a:t>
            </a:r>
          </a:p>
          <a:p>
            <a:r>
              <a:rPr lang="en-US" sz="2600" b="1" dirty="0" err="1"/>
              <a:t>Prednosti</a:t>
            </a:r>
            <a:endParaRPr lang="en-US" sz="2600" b="1" dirty="0"/>
          </a:p>
          <a:p>
            <a:pPr lvl="1"/>
            <a:r>
              <a:rPr lang="en-US" sz="2200" dirty="0" err="1"/>
              <a:t>Brža</a:t>
            </a:r>
            <a:r>
              <a:rPr lang="en-US" sz="2200" dirty="0"/>
              <a:t> </a:t>
            </a:r>
            <a:r>
              <a:rPr lang="en-US" sz="2200" dirty="0" err="1"/>
              <a:t>pretraga</a:t>
            </a:r>
            <a:r>
              <a:rPr lang="en-US" sz="2200" dirty="0"/>
              <a:t> </a:t>
            </a:r>
          </a:p>
          <a:p>
            <a:pPr lvl="1"/>
            <a:r>
              <a:rPr lang="en-US" sz="2200" dirty="0"/>
              <a:t>Manje </a:t>
            </a:r>
            <a:r>
              <a:rPr lang="en-US" sz="2200" dirty="0" err="1"/>
              <a:t>čitanja</a:t>
            </a:r>
            <a:r>
              <a:rPr lang="en-US" sz="2200" dirty="0"/>
              <a:t> </a:t>
            </a:r>
            <a:r>
              <a:rPr lang="en-US" sz="2200" dirty="0" err="1"/>
              <a:t>sa</a:t>
            </a:r>
            <a:r>
              <a:rPr lang="en-US" sz="2200" dirty="0"/>
              <a:t> </a:t>
            </a:r>
            <a:r>
              <a:rPr lang="en-US" sz="2200" dirty="0" err="1"/>
              <a:t>diska</a:t>
            </a:r>
            <a:r>
              <a:rPr lang="en-US" sz="2200" dirty="0"/>
              <a:t> </a:t>
            </a:r>
          </a:p>
          <a:p>
            <a:r>
              <a:rPr lang="en-US" sz="2600" b="1" dirty="0"/>
              <a:t>Mane</a:t>
            </a:r>
          </a:p>
          <a:p>
            <a:pPr lvl="1"/>
            <a:r>
              <a:rPr lang="en-US" sz="2200" dirty="0" err="1"/>
              <a:t>Zauzima</a:t>
            </a:r>
            <a:r>
              <a:rPr lang="en-US" sz="2200" dirty="0"/>
              <a:t> </a:t>
            </a:r>
            <a:r>
              <a:rPr lang="en-US" sz="2200" dirty="0" err="1"/>
              <a:t>dodatni</a:t>
            </a:r>
            <a:r>
              <a:rPr lang="en-US" sz="2200" dirty="0"/>
              <a:t> </a:t>
            </a:r>
            <a:r>
              <a:rPr lang="en-US" sz="2200" dirty="0" err="1"/>
              <a:t>prostor</a:t>
            </a:r>
            <a:r>
              <a:rPr lang="en-US" sz="2200" dirty="0"/>
              <a:t> </a:t>
            </a:r>
          </a:p>
          <a:p>
            <a:pPr lvl="1"/>
            <a:r>
              <a:rPr lang="en-US" sz="2200" dirty="0" err="1"/>
              <a:t>Usporava</a:t>
            </a:r>
            <a:r>
              <a:rPr lang="en-US" sz="2200" dirty="0"/>
              <a:t> INSERT, UPDATE </a:t>
            </a:r>
            <a:r>
              <a:rPr lang="en-US" sz="2200" dirty="0" err="1"/>
              <a:t>i</a:t>
            </a:r>
            <a:r>
              <a:rPr lang="en-US" sz="2200" dirty="0"/>
              <a:t> DELETE </a:t>
            </a:r>
            <a:r>
              <a:rPr lang="en-US" sz="2200" dirty="0" err="1"/>
              <a:t>operacije</a:t>
            </a:r>
            <a:r>
              <a:rPr lang="en-US" sz="2200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60134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C9C05-57C6-4C1F-9C9B-BC7DDF87A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Tipovi indeksa u </a:t>
            </a:r>
            <a:r>
              <a:rPr lang="sr-Latn-RS" dirty="0" err="1"/>
              <a:t>PostgreSQL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E656440-B873-44E9-B62C-EB7457B32C5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450133"/>
            <a:ext cx="9278923" cy="44012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B-tree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Podrazumevani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indeks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Podržava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poređenja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sortiranje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GIN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Tekst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JSON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podaci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BRIN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Velike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tabele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sa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grupisanim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podacima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GiST</a:t>
            </a:r>
            <a:r>
              <a:rPr kumimoji="0" lang="en-US" altLang="en-US" sz="2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/ SP-</a:t>
            </a:r>
            <a:r>
              <a:rPr kumimoji="0" lang="en-US" altLang="en-US" sz="2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GiST</a:t>
            </a:r>
            <a:r>
              <a:rPr kumimoji="0" lang="en-US" altLang="en-US" sz="2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Napredne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strukture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pretrage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Hash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Brzo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poređenje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jednakosti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(=)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2597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6DD95-7AEF-48C5-9506-F04350734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 err="1"/>
              <a:t>Hash</a:t>
            </a:r>
            <a:r>
              <a:rPr lang="sr-Latn-RS" dirty="0"/>
              <a:t> indeks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60EDF40-5945-403F-85DC-0C4D2D9EA1C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939192"/>
            <a:ext cx="6716198" cy="41242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Specijalizovani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indeks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za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operaciju</a:t>
            </a:r>
            <a:r>
              <a:rPr lang="sr-Latn-RS" altLang="en-US" sz="2600" dirty="0"/>
              <a:t>  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=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Bazira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se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na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hash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mapi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Koristi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hash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funkciju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za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pronalaženje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podataka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9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Dobar</a:t>
            </a:r>
            <a:r>
              <a:rPr kumimoji="0" lang="en-US" altLang="en-US" sz="2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izbor</a:t>
            </a:r>
            <a:r>
              <a:rPr kumimoji="0" lang="en-US" altLang="en-US" sz="2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kada</a:t>
            </a:r>
            <a:r>
              <a:rPr kumimoji="0" lang="en-US" altLang="en-US" sz="2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Ima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mnogo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različitih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vrednosti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Često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se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koristi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poređenje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jednakosti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2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Loš</a:t>
            </a:r>
            <a:r>
              <a:rPr kumimoji="0" lang="en-US" altLang="en-US" sz="2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izbor</a:t>
            </a:r>
            <a:r>
              <a:rPr kumimoji="0" lang="en-US" altLang="en-US" sz="2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kada</a:t>
            </a:r>
            <a:r>
              <a:rPr kumimoji="0" lang="en-US" altLang="en-US" sz="2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Potrebno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sortiranje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sr-Latn-R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	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Koriste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se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operatori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&lt;, &gt;, BETWEEN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54418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A233C-B1FE-4C7D-BC97-49EF055A8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Hash </a:t>
            </a:r>
            <a:r>
              <a:rPr lang="en-US" dirty="0" err="1"/>
              <a:t>funkcija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8FE2BE-B737-4406-B575-B096E42552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Hash funkcija pretvara podatak u hash vrednost</a:t>
            </a:r>
            <a:endParaRPr lang="sr-Latn-RS" dirty="0"/>
          </a:p>
          <a:p>
            <a:r>
              <a:rPr lang="sr-Latn-RS" dirty="0" err="1"/>
              <a:t>Npr</a:t>
            </a:r>
            <a:r>
              <a:rPr lang="sr-Latn-RS" dirty="0"/>
              <a:t>: h(„Mihajlo“) </a:t>
            </a:r>
            <a:r>
              <a:rPr lang="en-US" dirty="0"/>
              <a:t>= </a:t>
            </a:r>
            <a:r>
              <a:rPr lang="sr-Latn-RS" dirty="0"/>
              <a:t>582913</a:t>
            </a:r>
          </a:p>
          <a:p>
            <a:r>
              <a:rPr lang="sr-Latn-RS" dirty="0"/>
              <a:t>Dobra </a:t>
            </a:r>
            <a:r>
              <a:rPr lang="sr-Latn-RS" dirty="0" err="1"/>
              <a:t>hash</a:t>
            </a:r>
            <a:r>
              <a:rPr lang="sr-Latn-RS" dirty="0"/>
              <a:t> funkcija treba da:</a:t>
            </a:r>
          </a:p>
          <a:p>
            <a:pPr lvl="1"/>
            <a:r>
              <a:rPr lang="sr-Latn-RS" dirty="0"/>
              <a:t>bude brza</a:t>
            </a:r>
          </a:p>
          <a:p>
            <a:pPr lvl="1"/>
            <a:r>
              <a:rPr lang="sr-Latn-RS" dirty="0"/>
              <a:t>ravnomerno raspoređuje vrednosti</a:t>
            </a:r>
          </a:p>
          <a:p>
            <a:r>
              <a:rPr lang="sr-Latn-RS" dirty="0"/>
              <a:t>Cilj</a:t>
            </a:r>
            <a:r>
              <a:rPr lang="sr-Latn-RS" b="1" dirty="0"/>
              <a:t>:</a:t>
            </a:r>
          </a:p>
          <a:p>
            <a:pPr lvl="1"/>
            <a:r>
              <a:rPr lang="sr-Latn-RS" dirty="0"/>
              <a:t>smanjenje kolizija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15974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C9B3D-56F9-438C-8A9C-00FFB1FBE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Kolizija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448AFA8-22EC-4261-8975-3AC49505DCC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769913"/>
            <a:ext cx="5865324" cy="44627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Kolizija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nastaje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kada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</a:t>
            </a:r>
            <a:endParaRPr kumimoji="0" lang="sr-Latn-RS" altLang="en-US" sz="2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dve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različite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vrednosti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daju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isti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hash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Primer: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 → 1523</a:t>
            </a:r>
            <a:b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B → 1523</a:t>
            </a:r>
            <a:endParaRPr kumimoji="0" lang="en-US" altLang="en-US" sz="2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Rešenja</a:t>
            </a:r>
            <a:r>
              <a:rPr kumimoji="0" lang="en-US" altLang="en-US" sz="2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Otvoreno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adresiranje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Spoljašnje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ulančavanje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(bucket + linked list) </a:t>
            </a:r>
            <a:endParaRPr kumimoji="0" lang="en-US" altLang="en-US" sz="2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Posledice</a:t>
            </a:r>
            <a:r>
              <a:rPr kumimoji="0" lang="en-US" altLang="en-US" sz="2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Sporija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pretraga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Više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operacija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pristupa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80769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DB42A-8F44-44CB-9E74-00B7CC81B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 err="1"/>
              <a:t>Hash</a:t>
            </a:r>
            <a:r>
              <a:rPr lang="sr-Latn-RS" dirty="0"/>
              <a:t> indeks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1B70480-9B07-4780-8098-1A2B2CD88C1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95587" y="1601227"/>
            <a:ext cx="5702395" cy="3978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2600" dirty="0"/>
              <a:t>Hash </a:t>
            </a:r>
            <a:r>
              <a:rPr lang="en-US" sz="2600" dirty="0" err="1"/>
              <a:t>indeks</a:t>
            </a:r>
            <a:r>
              <a:rPr lang="en-US" sz="2600" dirty="0"/>
              <a:t> </a:t>
            </a:r>
            <a:r>
              <a:rPr lang="en-US" sz="2600" dirty="0" err="1"/>
              <a:t>koristi</a:t>
            </a:r>
            <a:r>
              <a:rPr lang="en-US" sz="2600" dirty="0"/>
              <a:t> </a:t>
            </a:r>
            <a:r>
              <a:rPr lang="en-US" sz="2600" dirty="0" err="1"/>
              <a:t>više</a:t>
            </a:r>
            <a:r>
              <a:rPr lang="en-US" sz="2600" dirty="0"/>
              <a:t> </a:t>
            </a:r>
            <a:r>
              <a:rPr lang="en-US" sz="2600" dirty="0" err="1"/>
              <a:t>tipova</a:t>
            </a:r>
            <a:r>
              <a:rPr lang="en-US" sz="2600" dirty="0"/>
              <a:t> </a:t>
            </a:r>
            <a:r>
              <a:rPr lang="en-US" sz="2600" dirty="0" err="1"/>
              <a:t>stranica</a:t>
            </a:r>
            <a:r>
              <a:rPr lang="en-US" sz="2600" dirty="0"/>
              <a:t>:</a:t>
            </a:r>
          </a:p>
          <a:p>
            <a:pPr lvl="1"/>
            <a:r>
              <a:rPr lang="en-US" sz="2200" dirty="0"/>
              <a:t>Meta </a:t>
            </a:r>
            <a:r>
              <a:rPr lang="en-US" sz="2200" dirty="0" err="1"/>
              <a:t>stranice</a:t>
            </a:r>
            <a:r>
              <a:rPr lang="en-US" sz="2200" dirty="0"/>
              <a:t> </a:t>
            </a:r>
          </a:p>
          <a:p>
            <a:pPr lvl="1"/>
            <a:r>
              <a:rPr lang="en-US" sz="2200" dirty="0"/>
              <a:t>Bucket </a:t>
            </a:r>
            <a:r>
              <a:rPr lang="en-US" sz="2200" dirty="0" err="1"/>
              <a:t>stranice</a:t>
            </a:r>
            <a:r>
              <a:rPr lang="en-US" sz="2200" dirty="0"/>
              <a:t> </a:t>
            </a:r>
          </a:p>
          <a:p>
            <a:pPr lvl="1"/>
            <a:r>
              <a:rPr lang="en-US" sz="2200" dirty="0"/>
              <a:t>Overflow </a:t>
            </a:r>
            <a:r>
              <a:rPr lang="en-US" sz="2200" dirty="0" err="1"/>
              <a:t>stranice</a:t>
            </a:r>
            <a:r>
              <a:rPr lang="en-US" sz="2200" dirty="0"/>
              <a:t> </a:t>
            </a:r>
          </a:p>
          <a:p>
            <a:pPr lvl="1"/>
            <a:r>
              <a:rPr lang="en-US" sz="2200" dirty="0"/>
              <a:t>Bitmap </a:t>
            </a:r>
            <a:r>
              <a:rPr lang="en-US" sz="2200" dirty="0" err="1"/>
              <a:t>stranice</a:t>
            </a:r>
            <a:r>
              <a:rPr lang="en-US" sz="2200" dirty="0"/>
              <a:t> </a:t>
            </a:r>
          </a:p>
          <a:p>
            <a:r>
              <a:rPr lang="en-US" sz="2600" b="1" dirty="0" err="1"/>
              <a:t>Karakteristike</a:t>
            </a:r>
            <a:endParaRPr lang="en-US" sz="2600" b="1" dirty="0"/>
          </a:p>
          <a:p>
            <a:pPr lvl="1"/>
            <a:r>
              <a:rPr lang="en-US" sz="2200" dirty="0" err="1"/>
              <a:t>Dinamičko</a:t>
            </a:r>
            <a:r>
              <a:rPr lang="en-US" sz="2200" dirty="0"/>
              <a:t> </a:t>
            </a:r>
            <a:r>
              <a:rPr lang="en-US" sz="2200" dirty="0" err="1"/>
              <a:t>proširivanje</a:t>
            </a:r>
            <a:r>
              <a:rPr lang="en-US" sz="2200" dirty="0"/>
              <a:t> </a:t>
            </a:r>
          </a:p>
          <a:p>
            <a:pPr lvl="1"/>
            <a:r>
              <a:rPr lang="en-US" sz="2200" dirty="0" err="1"/>
              <a:t>Organizacija</a:t>
            </a:r>
            <a:r>
              <a:rPr lang="en-US" sz="2200" dirty="0"/>
              <a:t> po bucket-</a:t>
            </a:r>
            <a:r>
              <a:rPr lang="en-US" sz="2200" dirty="0" err="1"/>
              <a:t>ima</a:t>
            </a:r>
            <a:r>
              <a:rPr lang="en-US" sz="2200" dirty="0"/>
              <a:t> </a:t>
            </a:r>
          </a:p>
          <a:p>
            <a:pPr lvl="1"/>
            <a:r>
              <a:rPr lang="en-US" sz="2200" dirty="0"/>
              <a:t>Overflow </a:t>
            </a:r>
            <a:r>
              <a:rPr lang="en-US" sz="2200" dirty="0" err="1"/>
              <a:t>stranice</a:t>
            </a:r>
            <a:r>
              <a:rPr lang="en-US" sz="2200" dirty="0"/>
              <a:t> za </a:t>
            </a:r>
            <a:r>
              <a:rPr lang="en-US" sz="2200" dirty="0" err="1"/>
              <a:t>višak</a:t>
            </a:r>
            <a:r>
              <a:rPr lang="en-US" sz="2200" dirty="0"/>
              <a:t> </a:t>
            </a:r>
            <a:r>
              <a:rPr lang="en-US" sz="2200" dirty="0" err="1"/>
              <a:t>podataka</a:t>
            </a:r>
            <a:endParaRPr lang="en-US" sz="22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E4B4E6-453B-4F37-B208-9B47DE90B731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9725" y="2350491"/>
            <a:ext cx="5934075" cy="1485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239349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708CC7-AE84-4D80-8EF5-7DCD168C8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Prednosti </a:t>
            </a:r>
            <a:r>
              <a:rPr lang="sr-Latn-RS" dirty="0" err="1"/>
              <a:t>hash</a:t>
            </a:r>
            <a:r>
              <a:rPr lang="sr-Latn-RS" dirty="0"/>
              <a:t> indeksa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550B8A-6250-4C4C-90F2-8B6E7511EB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Veoma</a:t>
            </a:r>
            <a:r>
              <a:rPr lang="en-US" dirty="0"/>
              <a:t> </a:t>
            </a:r>
            <a:r>
              <a:rPr lang="en-US" dirty="0" err="1"/>
              <a:t>brza</a:t>
            </a:r>
            <a:r>
              <a:rPr lang="en-US" dirty="0"/>
              <a:t> </a:t>
            </a:r>
            <a:r>
              <a:rPr lang="en-US" dirty="0" err="1"/>
              <a:t>pretraga</a:t>
            </a:r>
            <a:r>
              <a:rPr lang="en-US" dirty="0"/>
              <a:t> po </a:t>
            </a:r>
            <a:r>
              <a:rPr lang="en-US" dirty="0" err="1"/>
              <a:t>jednakosti</a:t>
            </a:r>
            <a:r>
              <a:rPr lang="en-US" dirty="0"/>
              <a:t> </a:t>
            </a:r>
          </a:p>
          <a:p>
            <a:r>
              <a:rPr lang="en-US" dirty="0" err="1"/>
              <a:t>Manja</a:t>
            </a:r>
            <a:r>
              <a:rPr lang="en-US" dirty="0"/>
              <a:t> </a:t>
            </a:r>
            <a:r>
              <a:rPr lang="en-US" dirty="0" err="1"/>
              <a:t>veličina</a:t>
            </a:r>
            <a:r>
              <a:rPr lang="en-US" dirty="0"/>
              <a:t> </a:t>
            </a:r>
            <a:r>
              <a:rPr lang="en-US" dirty="0" err="1"/>
              <a:t>indeksa</a:t>
            </a:r>
            <a:r>
              <a:rPr lang="en-US" dirty="0"/>
              <a:t> </a:t>
            </a:r>
          </a:p>
          <a:p>
            <a:r>
              <a:rPr lang="en-US" dirty="0" err="1"/>
              <a:t>Jednostavna</a:t>
            </a:r>
            <a:r>
              <a:rPr lang="en-US" dirty="0"/>
              <a:t> </a:t>
            </a:r>
            <a:r>
              <a:rPr lang="en-US" dirty="0" err="1"/>
              <a:t>struktura</a:t>
            </a:r>
            <a:r>
              <a:rPr lang="en-US" dirty="0"/>
              <a:t> </a:t>
            </a:r>
          </a:p>
          <a:p>
            <a:r>
              <a:rPr lang="en-US" dirty="0" err="1"/>
              <a:t>Efikasan</a:t>
            </a:r>
            <a:r>
              <a:rPr lang="en-US" dirty="0"/>
              <a:t> za </a:t>
            </a:r>
            <a:r>
              <a:rPr lang="en-US" dirty="0" err="1"/>
              <a:t>veliki</a:t>
            </a:r>
            <a:r>
              <a:rPr lang="en-US" dirty="0"/>
              <a:t> </a:t>
            </a:r>
            <a:r>
              <a:rPr lang="en-US" dirty="0" err="1"/>
              <a:t>broj</a:t>
            </a:r>
            <a:r>
              <a:rPr lang="en-US" dirty="0"/>
              <a:t> </a:t>
            </a:r>
            <a:r>
              <a:rPr lang="en-US" dirty="0" err="1"/>
              <a:t>jedinstvenih</a:t>
            </a:r>
            <a:r>
              <a:rPr lang="en-US" dirty="0"/>
              <a:t> </a:t>
            </a:r>
            <a:r>
              <a:rPr lang="en-US" dirty="0" err="1"/>
              <a:t>vrednosti</a:t>
            </a:r>
            <a:r>
              <a:rPr lang="en-US" dirty="0"/>
              <a:t> </a:t>
            </a:r>
          </a:p>
          <a:p>
            <a:r>
              <a:rPr lang="en-US" dirty="0" err="1"/>
              <a:t>Idealno</a:t>
            </a:r>
            <a:r>
              <a:rPr lang="en-US" dirty="0"/>
              <a:t> za:</a:t>
            </a:r>
          </a:p>
          <a:p>
            <a:pPr lvl="1"/>
            <a:r>
              <a:rPr lang="en-US" dirty="0"/>
              <a:t>ID </a:t>
            </a:r>
            <a:r>
              <a:rPr lang="en-US" dirty="0" err="1"/>
              <a:t>vrednosti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URL </a:t>
            </a:r>
            <a:r>
              <a:rPr lang="en-US" dirty="0" err="1"/>
              <a:t>adrese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Token-e </a:t>
            </a:r>
          </a:p>
          <a:p>
            <a:pPr lvl="1"/>
            <a:r>
              <a:rPr lang="en-US" dirty="0" err="1"/>
              <a:t>Jedinstvene</a:t>
            </a:r>
            <a:r>
              <a:rPr lang="en-US" dirty="0"/>
              <a:t> </a:t>
            </a:r>
            <a:r>
              <a:rPr lang="en-US" dirty="0" err="1"/>
              <a:t>stringove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40079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651593-7DFD-41D2-87EF-FFCA9A3EA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Ograničenja </a:t>
            </a:r>
            <a:r>
              <a:rPr lang="sr-Latn-RS" dirty="0" err="1"/>
              <a:t>hash</a:t>
            </a:r>
            <a:r>
              <a:rPr lang="sr-Latn-RS" dirty="0"/>
              <a:t> indeksa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EBEFF7A-20DC-49F7-A0DF-7B6B2A28610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216191"/>
            <a:ext cx="5359609" cy="35702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Podržava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samo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operator</a:t>
            </a:r>
            <a:r>
              <a:rPr kumimoji="0" lang="sr-Latn-RS" altLang="en-US" sz="26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lang="en-US" altLang="en-US" sz="2600" dirty="0"/>
              <a:t>=</a:t>
            </a:r>
            <a:endParaRPr kumimoji="0" lang="en-US" altLang="en-US" sz="2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Ne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podržava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sortiranje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range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upite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&lt;, &gt;, ORDER BY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Problem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kolizije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Overflow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stranice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mogu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usporiti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rad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Potrebno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održavanje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REINDEX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9120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18C0F0-89CA-4E0C-8CDB-2AF1C64A85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815"/>
            <a:ext cx="10515600" cy="1325563"/>
          </a:xfrm>
        </p:spPr>
        <p:txBody>
          <a:bodyPr/>
          <a:lstStyle/>
          <a:p>
            <a:r>
              <a:rPr lang="sr-Latn-RS" dirty="0" err="1"/>
              <a:t>Hash</a:t>
            </a:r>
            <a:r>
              <a:rPr lang="sr-Latn-RS" dirty="0"/>
              <a:t> indeks u poređenju sa B </a:t>
            </a:r>
            <a:r>
              <a:rPr lang="sr-Latn-RS" dirty="0" err="1"/>
              <a:t>tree</a:t>
            </a:r>
            <a:r>
              <a:rPr lang="sr-Latn-RS" dirty="0"/>
              <a:t> indeksom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48D97-B61F-4D10-8712-439EAA7289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84378"/>
            <a:ext cx="10515600" cy="4351338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Hash </a:t>
            </a:r>
            <a:r>
              <a:rPr lang="en-US" dirty="0" err="1"/>
              <a:t>indeks</a:t>
            </a:r>
            <a:r>
              <a:rPr lang="en-US" dirty="0"/>
              <a:t>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nešto</a:t>
            </a:r>
            <a:r>
              <a:rPr lang="en-US" dirty="0"/>
              <a:t> </a:t>
            </a:r>
            <a:r>
              <a:rPr lang="en-US" dirty="0" err="1"/>
              <a:t>brži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manji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disku</a:t>
            </a:r>
            <a:r>
              <a:rPr lang="en-US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B-tree: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skoro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performanse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mnogo</a:t>
            </a:r>
            <a:r>
              <a:rPr lang="en-US" dirty="0"/>
              <a:t> </a:t>
            </a:r>
            <a:r>
              <a:rPr lang="en-US" dirty="0" err="1"/>
              <a:t>fleksibilniji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8931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67EAF-250B-4D88-B2F5-347D7691D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8">
            <a:extLst>
              <a:ext uri="{FF2B5EF4-FFF2-40B4-BE49-F238E27FC236}">
                <a16:creationId xmlns:a16="http://schemas.microsoft.com/office/drawing/2014/main" id="{5C482CC7-7F39-42D2-9C06-AB28709176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244" y="61915"/>
            <a:ext cx="7888797" cy="3527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DDD1705-570C-4C4F-B8FB-73856381F3F0}"/>
              </a:ext>
            </a:extLst>
          </p:cNvPr>
          <p:cNvSpPr txBox="1"/>
          <p:nvPr/>
        </p:nvSpPr>
        <p:spPr>
          <a:xfrm>
            <a:off x="8045041" y="1559652"/>
            <a:ext cx="23045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1600" dirty="0"/>
              <a:t>Poređenje operacija nad stringovima  na 1000000 redova</a:t>
            </a:r>
            <a:endParaRPr lang="en-US" sz="1600" dirty="0"/>
          </a:p>
        </p:txBody>
      </p:sp>
      <p:pic>
        <p:nvPicPr>
          <p:cNvPr id="6" name="Picture 10">
            <a:extLst>
              <a:ext uri="{FF2B5EF4-FFF2-40B4-BE49-F238E27FC236}">
                <a16:creationId xmlns:a16="http://schemas.microsoft.com/office/drawing/2014/main" id="{1E2DC3C6-5B7E-477C-A25E-4F69774872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453" y="3418552"/>
            <a:ext cx="7553588" cy="3377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2C8B39D-9A89-40CA-BF1D-F21614B0FC03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045041" y="4814144"/>
            <a:ext cx="2516698" cy="7571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sr-Latn-RS" sz="1600" dirty="0"/>
              <a:t>Poređenje veličine indeksa nad stringovima  na 1000000 redova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632356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9550E-3C58-456D-809A-E5FCF542D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Zaključak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6BAD7FA-D80D-40D6-BC0D-3AFEE03F38A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690688"/>
            <a:ext cx="10515600" cy="41242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Hash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indeks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je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specijalizovan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indeks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Najbolji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za</a:t>
            </a:r>
            <a:r>
              <a:rPr lang="sr-Latn-RS" altLang="en-US" sz="2600" dirty="0"/>
              <a:t>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direktno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poređenje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jednakosti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2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Prednosti</a:t>
            </a:r>
            <a:r>
              <a:rPr kumimoji="0" lang="sr-Latn-RS" altLang="en-US" sz="2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endParaRPr kumimoji="0" lang="en-US" altLang="en-US" sz="2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Brzina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Mala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veličina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2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Nedostaci</a:t>
            </a:r>
            <a:r>
              <a:rPr kumimoji="0" lang="sr-Latn-RS" altLang="en-US" sz="2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endParaRPr kumimoji="0" lang="en-US" altLang="en-US" sz="2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Ograničena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funkcionalnost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Samo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operator = </a:t>
            </a:r>
            <a:endParaRPr kumimoji="0" lang="en-US" altLang="en-US" sz="2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Zaključak</a:t>
            </a:r>
            <a:endParaRPr kumimoji="0" lang="en-US" altLang="en-US" sz="2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U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praksi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se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češće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koristi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B-tree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zbog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veće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univerzalnosti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dok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hash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indeks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ima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smisla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u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specifičnim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situacijama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291794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414</Words>
  <Application>Microsoft Office PowerPoint</Application>
  <PresentationFormat>Widescreen</PresentationFormat>
  <Paragraphs>118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Hash indeksi i njihova ograničenja</vt:lpstr>
      <vt:lpstr>Uvod</vt:lpstr>
      <vt:lpstr>Indeksiranje</vt:lpstr>
      <vt:lpstr>Tipovi indeksa u PostgreSQL</vt:lpstr>
      <vt:lpstr>Hash indeks</vt:lpstr>
      <vt:lpstr>Hash funkcija</vt:lpstr>
      <vt:lpstr>Kolizija</vt:lpstr>
      <vt:lpstr>Hash indeks</vt:lpstr>
      <vt:lpstr>Prednosti hash indeksa</vt:lpstr>
      <vt:lpstr>Ograničenja hash indeksa</vt:lpstr>
      <vt:lpstr>Hash indeks u poređenju sa B tree indeksom</vt:lpstr>
      <vt:lpstr>PowerPoint Presentation</vt:lpstr>
      <vt:lpstr>Zaključak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Hash index</dc:title>
  <dc:creator>Mihajlo Bencun</dc:creator>
  <cp:lastModifiedBy>Mihajlo Bencun</cp:lastModifiedBy>
  <cp:revision>5</cp:revision>
  <dcterms:created xsi:type="dcterms:W3CDTF">2026-05-12T20:49:55Z</dcterms:created>
  <dcterms:modified xsi:type="dcterms:W3CDTF">2026-05-21T09:37:16Z</dcterms:modified>
</cp:coreProperties>
</file>